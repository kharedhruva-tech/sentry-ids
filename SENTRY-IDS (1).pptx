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548640"/>
            <a:ext cx="45720" cy="45720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1051560"/>
            <a:ext cx="45720" cy="45720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869680" y="1554480"/>
            <a:ext cx="45720" cy="45720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869680" y="2057400"/>
            <a:ext cx="45720" cy="45720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869680" y="2560320"/>
            <a:ext cx="45720" cy="45720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869680" y="3063240"/>
            <a:ext cx="45720" cy="45720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372600" y="548640"/>
            <a:ext cx="45720" cy="45720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372600" y="1051560"/>
            <a:ext cx="45720" cy="45720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372600" y="1554480"/>
            <a:ext cx="45720" cy="45720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372600" y="2057400"/>
            <a:ext cx="45720" cy="45720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372600" y="2560320"/>
            <a:ext cx="45720" cy="45720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372600" y="3063240"/>
            <a:ext cx="45720" cy="45720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875520" y="548640"/>
            <a:ext cx="45720" cy="45720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875520" y="1051560"/>
            <a:ext cx="45720" cy="45720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875520" y="1554480"/>
            <a:ext cx="45720" cy="45720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875520" y="2057400"/>
            <a:ext cx="45720" cy="45720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875520" y="2560320"/>
            <a:ext cx="45720" cy="45720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875520" y="3063240"/>
            <a:ext cx="45720" cy="45720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378440" y="548640"/>
            <a:ext cx="45720" cy="45720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378440" y="1051560"/>
            <a:ext cx="45720" cy="45720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0378440" y="1554480"/>
            <a:ext cx="45720" cy="45720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378440" y="2057400"/>
            <a:ext cx="45720" cy="45720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378440" y="2560320"/>
            <a:ext cx="45720" cy="45720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0378440" y="3063240"/>
            <a:ext cx="45720" cy="45720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0881360" y="548640"/>
            <a:ext cx="45720" cy="45720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881360" y="1051560"/>
            <a:ext cx="45720" cy="45720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881360" y="1554480"/>
            <a:ext cx="45720" cy="45720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0881360" y="2057400"/>
            <a:ext cx="45720" cy="45720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0881360" y="2560320"/>
            <a:ext cx="45720" cy="45720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881360" y="3063240"/>
            <a:ext cx="45720" cy="45720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1384280" y="548640"/>
            <a:ext cx="45720" cy="45720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1384280" y="1051560"/>
            <a:ext cx="45720" cy="45720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1384280" y="1554480"/>
            <a:ext cx="45720" cy="45720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1384280" y="2057400"/>
            <a:ext cx="45720" cy="45720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1384280" y="2560320"/>
            <a:ext cx="45720" cy="45720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1384280" y="3063240"/>
            <a:ext cx="45720" cy="45720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48640" y="640080"/>
            <a:ext cx="1554480" cy="155448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</p:spPr>
      </p:sp>
      <p:pic>
        <p:nvPicPr>
          <p:cNvPr id="39" name="Image 0" descr="/home/claude/extracte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804672"/>
            <a:ext cx="1225296" cy="1225296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2377440" y="868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FORENSIC RESEARCH CENTRE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2377440" y="11704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Madan Mohan Malaviya University of Technology, Gorakhpur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548640" y="265176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SENTRY-IDS</a:t>
            </a:r>
            <a:endParaRPr lang="en-US" sz="6000" dirty="0"/>
          </a:p>
        </p:txBody>
      </p:sp>
      <p:sp>
        <p:nvSpPr>
          <p:cNvPr id="43" name="Text 40"/>
          <p:cNvSpPr/>
          <p:nvPr/>
        </p:nvSpPr>
        <p:spPr>
          <a:xfrm>
            <a:off x="548640" y="36118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 Intrusion Detection System Using Snort and Wireshark</a:t>
            </a:r>
            <a:endParaRPr lang="en-US" sz="2000" dirty="0"/>
          </a:p>
        </p:txBody>
      </p:sp>
      <p:sp>
        <p:nvSpPr>
          <p:cNvPr id="44" name="Shape 41"/>
          <p:cNvSpPr/>
          <p:nvPr/>
        </p:nvSpPr>
        <p:spPr>
          <a:xfrm>
            <a:off x="548640" y="4343400"/>
            <a:ext cx="292608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48640" y="45262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in Partial Fulfillment of the Internship Certificate in Cyber Security and Digital Forensics
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548640" y="5074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Ashish  (Roll No. 2405250100052)      |      Dhruva  (Roll No. 2405250100070)</a:t>
            </a:r>
            <a:endParaRPr lang="en-US" sz="1500" dirty="0"/>
          </a:p>
        </p:txBody>
      </p:sp>
      <p:sp>
        <p:nvSpPr>
          <p:cNvPr id="47" name="Text 44"/>
          <p:cNvSpPr/>
          <p:nvPr/>
        </p:nvSpPr>
        <p:spPr>
          <a:xfrm>
            <a:off x="548640" y="546811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Supervision of Dr. Vimal Kumar, Assistant Professor</a:t>
            </a:r>
            <a:endParaRPr lang="en-US" sz="1300" dirty="0"/>
          </a:p>
        </p:txBody>
      </p:sp>
      <p:sp>
        <p:nvSpPr>
          <p:cNvPr id="48" name="Text 45"/>
          <p:cNvSpPr/>
          <p:nvPr/>
        </p:nvSpPr>
        <p:spPr>
          <a:xfrm>
            <a:off x="548640" y="6172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663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C314F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09928"/>
            <a:ext cx="8229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508760" y="1737360"/>
            <a:ext cx="0" cy="621792"/>
          </a:xfrm>
          <a:prstGeom prst="line">
            <a:avLst/>
          </a:prstGeom>
          <a:noFill/>
          <a:ln w="12700">
            <a:solidFill>
              <a:srgbClr val="E1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91640" y="1691640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Need for an IDS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80760" y="1600200"/>
            <a:ext cx="51663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C314F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63640" y="1709928"/>
            <a:ext cx="8229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7040880" y="1737360"/>
            <a:ext cx="0" cy="621792"/>
          </a:xfrm>
          <a:prstGeom prst="line">
            <a:avLst/>
          </a:prstGeom>
          <a:noFill/>
          <a:ln w="12700">
            <a:solidFill>
              <a:srgbClr val="E1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0" y="1691640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679192"/>
            <a:ext cx="51663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C314F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2788920"/>
            <a:ext cx="8229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1508760" y="2816352"/>
            <a:ext cx="0" cy="621792"/>
          </a:xfrm>
          <a:prstGeom prst="line">
            <a:avLst/>
          </a:prstGeom>
          <a:noFill/>
          <a:ln w="12700">
            <a:solidFill>
              <a:srgbClr val="E1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91640" y="277063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Types &amp; Detection Techniques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80760" y="2679192"/>
            <a:ext cx="51663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C314F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63640" y="2788920"/>
            <a:ext cx="8229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7040880" y="2816352"/>
            <a:ext cx="0" cy="621792"/>
          </a:xfrm>
          <a:prstGeom prst="line">
            <a:avLst/>
          </a:prstGeom>
          <a:noFill/>
          <a:ln w="12700">
            <a:solidFill>
              <a:srgbClr val="E1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23760" y="277063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Landscape: Snort, Suricata, Zeek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758184"/>
            <a:ext cx="51663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C314F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" y="3867912"/>
            <a:ext cx="8229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1508760" y="3895344"/>
            <a:ext cx="0" cy="621792"/>
          </a:xfrm>
          <a:prstGeom prst="line">
            <a:avLst/>
          </a:prstGeom>
          <a:noFill/>
          <a:ln w="12700">
            <a:solidFill>
              <a:srgbClr val="E1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91640" y="38496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Architecture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080760" y="3758184"/>
            <a:ext cx="51663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C314F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63640" y="3867912"/>
            <a:ext cx="8229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7040880" y="3895344"/>
            <a:ext cx="0" cy="621792"/>
          </a:xfrm>
          <a:prstGeom prst="line">
            <a:avLst/>
          </a:prstGeom>
          <a:noFill/>
          <a:ln w="12700">
            <a:solidFill>
              <a:srgbClr val="E1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23760" y="38496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Detection Rules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4837176"/>
            <a:ext cx="51663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C314F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31520" y="4946904"/>
            <a:ext cx="8229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600" dirty="0"/>
          </a:p>
        </p:txBody>
      </p:sp>
      <p:sp>
        <p:nvSpPr>
          <p:cNvPr id="30" name="Shape 28"/>
          <p:cNvSpPr/>
          <p:nvPr/>
        </p:nvSpPr>
        <p:spPr>
          <a:xfrm>
            <a:off x="1508760" y="4974336"/>
            <a:ext cx="0" cy="621792"/>
          </a:xfrm>
          <a:prstGeom prst="line">
            <a:avLst/>
          </a:prstGeom>
          <a:noFill/>
          <a:ln w="12700">
            <a:solidFill>
              <a:srgbClr val="E1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691640" y="4928616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Dashboard: SENTRY-IDS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080760" y="4837176"/>
            <a:ext cx="51663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C314F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263640" y="4946904"/>
            <a:ext cx="8229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600" dirty="0"/>
          </a:p>
        </p:txBody>
      </p:sp>
      <p:sp>
        <p:nvSpPr>
          <p:cNvPr id="34" name="Shape 32"/>
          <p:cNvSpPr/>
          <p:nvPr/>
        </p:nvSpPr>
        <p:spPr>
          <a:xfrm>
            <a:off x="7040880" y="4974336"/>
            <a:ext cx="0" cy="621792"/>
          </a:xfrm>
          <a:prstGeom prst="line">
            <a:avLst/>
          </a:prstGeom>
          <a:noFill/>
          <a:ln w="12700">
            <a:solidFill>
              <a:srgbClr val="E1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23760" y="4928616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Performance &amp; Conclusion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7200" y="654710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SENTRY-IDS  |  Network Intrusion Detection System Using Snort &amp; Wireshark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Networks Need an IDS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Firewalls and antivirus form the first line of defence, but they cannot reliably catch insider misuse, zero-day exploits, or malware already inside the network. An Intrusion Detection System continuously inspects traffic and activity to surface what perimeter defences miss.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935224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volume &amp; sophistication of cyberattacks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584448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410712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of insider threats and APTs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059936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886200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 and faster response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535424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361688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for compliance (ISO 27001, NIST, PCI-DSS)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0" y="1554480"/>
            <a:ext cx="4754880" cy="4480560"/>
          </a:xfrm>
          <a:prstGeom prst="roundRect">
            <a:avLst>
              <a:gd name="adj" fmla="val 2041"/>
            </a:avLst>
          </a:prstGeom>
          <a:solidFill>
            <a:srgbClr val="0B1220"/>
          </a:solidFill>
          <a:ln/>
        </p:spPr>
      </p:sp>
      <p:sp>
        <p:nvSpPr>
          <p:cNvPr id="14" name="Text 12"/>
          <p:cNvSpPr/>
          <p:nvPr/>
        </p:nvSpPr>
        <p:spPr>
          <a:xfrm>
            <a:off x="7223760" y="17830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 TRIAD FOCUS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223760" y="210312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6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IDS helps preserve Confidentiality, Integrity, and Availability of information systems while assisting forensic investigation after an incident.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223760" y="324612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75320" y="324612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concept introduced by James P. Anderson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223760" y="386791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1987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75320" y="386791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formal detection model — Dorothy Denning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223760" y="4489704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1998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75320" y="4489704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Snort released by Martin Roesch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23760" y="5111496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2020s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275320" y="5111496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ML-driven, cloud-aware IDS platforms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54710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SENTRY-IDS  |  Network Intrusion Detection System Using Snort &amp; Wireshark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1965960"/>
          </a:xfrm>
          <a:prstGeom prst="roundRect">
            <a:avLst>
              <a:gd name="adj" fmla="val 4651"/>
            </a:avLst>
          </a:prstGeom>
          <a:solidFill>
            <a:srgbClr val="1C314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networks generate huge volumes of traffic. Firewalls filter on fixed rules and cannot detect malicious behaviour occurring inside the network, encrypted attacker channels, or zero-day exploits — an intelligent, continuously monitoring IDS is required.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943600" y="1600200"/>
            <a:ext cx="566928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63640" y="181051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221284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2D3EE"/>
          </a:solidFill>
          <a:ln/>
        </p:spPr>
      </p:sp>
      <p:sp>
        <p:nvSpPr>
          <p:cNvPr id="10" name="Text 8"/>
          <p:cNvSpPr/>
          <p:nvPr/>
        </p:nvSpPr>
        <p:spPr>
          <a:xfrm>
            <a:off x="6263640" y="22128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720840" y="2185416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IDS concepts and architectures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63640" y="274320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27432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20840" y="2715768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an IDS using Snort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63640" y="327355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2D3EE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32735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20840" y="324612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real-time network traffic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3803904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4B8A6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38039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20840" y="3776472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suspicious activity &amp; cyberattacks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63640" y="4334256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2D3EE"/>
          </a:solidFill>
          <a:ln/>
        </p:spPr>
      </p:sp>
      <p:sp>
        <p:nvSpPr>
          <p:cNvPr id="22" name="Text 20"/>
          <p:cNvSpPr/>
          <p:nvPr/>
        </p:nvSpPr>
        <p:spPr>
          <a:xfrm>
            <a:off x="6263640" y="43342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20840" y="4306824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real-time alerts for administrators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63640" y="486460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4B8A6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48646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720840" y="4837176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performance with standard metrics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3794760"/>
            <a:ext cx="512064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3977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2960" y="4361688"/>
            <a:ext cx="91440" cy="9144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30" name="Text 28"/>
          <p:cNvSpPr/>
          <p:nvPr/>
        </p:nvSpPr>
        <p:spPr>
          <a:xfrm>
            <a:off x="1051560" y="422452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monitoring &amp; rule-based detection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22960" y="4745736"/>
            <a:ext cx="91440" cy="9144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32" name="Text 30"/>
          <p:cNvSpPr/>
          <p:nvPr/>
        </p:nvSpPr>
        <p:spPr>
          <a:xfrm>
            <a:off x="1051560" y="4608576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 generation &amp; logging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22960" y="5129784"/>
            <a:ext cx="91440" cy="9144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34" name="Text 32"/>
          <p:cNvSpPr/>
          <p:nvPr/>
        </p:nvSpPr>
        <p:spPr>
          <a:xfrm>
            <a:off x="1051560" y="4992624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evaluation of the IDS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22960" y="5513832"/>
            <a:ext cx="91440" cy="9144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36" name="Text 34"/>
          <p:cNvSpPr/>
          <p:nvPr/>
        </p:nvSpPr>
        <p:spPr>
          <a:xfrm>
            <a:off x="1051560" y="537667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 of detection tools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654710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SENTRY-IDS  |  Network Intrusion Detection System Using Snort &amp; Wireshark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IDS &amp; Detection Techniques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0B1220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288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80136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NIDS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17320" y="208483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Network-Based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251460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6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traffic across routers, switches &amp; gateways. Examples: Snort, Suricata, Zeek.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160020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0B1220"/>
          </a:solidFill>
          <a:ln/>
        </p:spPr>
      </p:sp>
      <p:sp>
        <p:nvSpPr>
          <p:cNvPr id="11" name="Shape 9"/>
          <p:cNvSpPr/>
          <p:nvPr/>
        </p:nvSpPr>
        <p:spPr>
          <a:xfrm>
            <a:off x="4617720" y="18288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257800" y="180136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HIDS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257800" y="208483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Host-Based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17720" y="251460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6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logs, file integrity &amp; activity on a single host. Examples: OSSEC, Wazuh, Tripwire.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3840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TECHNIQUES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160520"/>
            <a:ext cx="36576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4343400"/>
            <a:ext cx="82296" cy="320040"/>
          </a:xfrm>
          <a:prstGeom prst="roundRect">
            <a:avLst/>
          </a:prstGeom>
          <a:solidFill>
            <a:srgbClr val="22D3EE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31596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Signature-Based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31520" y="4736592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traffic to known attack patterns — fast, low false-positives, blind to zero-days.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43400" y="4160520"/>
            <a:ext cx="36576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26280" y="4343400"/>
            <a:ext cx="82296" cy="320040"/>
          </a:xfrm>
          <a:prstGeom prst="roundRect">
            <a:avLst/>
          </a:prstGeom>
          <a:solidFill>
            <a:srgbClr val="14B8A6"/>
          </a:solidFill>
          <a:ln/>
        </p:spPr>
      </p:sp>
      <p:sp>
        <p:nvSpPr>
          <p:cNvPr id="23" name="Text 21"/>
          <p:cNvSpPr/>
          <p:nvPr/>
        </p:nvSpPr>
        <p:spPr>
          <a:xfrm>
            <a:off x="4709160" y="431596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Anomaly-Based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26280" y="4736592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a normal-traffic baseline and flags deviations — catches unknown attacks, more false alarms.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138160" y="4160520"/>
            <a:ext cx="36576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21040" y="4343400"/>
            <a:ext cx="82296" cy="320040"/>
          </a:xfrm>
          <a:prstGeom prst="roundRect">
            <a:avLst/>
          </a:prstGeom>
          <a:solidFill>
            <a:srgbClr val="F5A524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31596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321040" y="4736592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both approaches for higher accuracy and fewer missed or false alerts.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54710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SENTRY-IDS  |  Network Intrusion Detection System Using Snort &amp; Wireshark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Open-Source IDS Landscape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949440" cy="2743200"/>
        </p:xfrm>
        <a:graphic>
          <a:graphicData uri="http://schemas.openxmlformats.org/drawingml/2006/table">
            <a:tbl>
              <a:tblPr/>
              <a:tblGrid>
                <a:gridCol w="2560320"/>
                <a:gridCol w="1463040"/>
                <a:gridCol w="1463040"/>
                <a:gridCol w="14630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Suricata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Zeek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Detection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Signature-Based Detection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 Analysis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Good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Multi-Threading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52628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Snort remains attractive for its maturity, simplicity, and large community rule base — making it the practical choice for SENTRY-IDS. Suricata offers superior throughput via multi-threading; Zeek gives the richest behavioural visibility but needs more admin expertise.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818120" y="1600200"/>
            <a:ext cx="3794760" cy="4297680"/>
          </a:xfrm>
          <a:prstGeom prst="roundRect">
            <a:avLst>
              <a:gd name="adj" fmla="val 2410"/>
            </a:avLst>
          </a:prstGeom>
          <a:solidFill>
            <a:srgbClr val="0B1220"/>
          </a:solidFill>
          <a:ln/>
        </p:spPr>
      </p:sp>
      <p:sp>
        <p:nvSpPr>
          <p:cNvPr id="7" name="Text 4"/>
          <p:cNvSpPr/>
          <p:nvPr/>
        </p:nvSpPr>
        <p:spPr>
          <a:xfrm>
            <a:off x="8092440" y="18105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SNORT?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092440" y="2240280"/>
            <a:ext cx="109728" cy="10972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9" name="Text 6"/>
          <p:cNvSpPr/>
          <p:nvPr/>
        </p:nvSpPr>
        <p:spPr>
          <a:xfrm>
            <a:off x="8339328" y="208483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&amp; highly customizable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092440" y="2807208"/>
            <a:ext cx="109728" cy="10972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1" name="Text 8"/>
          <p:cNvSpPr/>
          <p:nvPr/>
        </p:nvSpPr>
        <p:spPr>
          <a:xfrm>
            <a:off x="8339328" y="26517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Large, active community rule database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092440" y="3374136"/>
            <a:ext cx="109728" cy="10972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3" name="Text 10"/>
          <p:cNvSpPr/>
          <p:nvPr/>
        </p:nvSpPr>
        <p:spPr>
          <a:xfrm>
            <a:off x="8339328" y="321868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integration with SIEM tools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092440" y="3941064"/>
            <a:ext cx="109728" cy="10972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5" name="Text 12"/>
          <p:cNvSpPr/>
          <p:nvPr/>
        </p:nvSpPr>
        <p:spPr>
          <a:xfrm>
            <a:off x="8339328" y="3785616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Well-documented, mature (since 1998)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092440" y="4507992"/>
            <a:ext cx="109728" cy="10972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7" name="Text 14"/>
          <p:cNvSpPr/>
          <p:nvPr/>
        </p:nvSpPr>
        <p:spPr>
          <a:xfrm>
            <a:off x="8339328" y="4352544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educational deployment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654710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SENTRY-IDS  |  Network Intrusion Detection System Using Snort &amp; Wireshark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IDS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956816" cy="1554480"/>
          </a:xfrm>
          <a:prstGeom prst="roundRect">
            <a:avLst>
              <a:gd name="adj" fmla="val 4706"/>
            </a:avLst>
          </a:prstGeom>
          <a:solidFill>
            <a:srgbClr val="0B1220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2377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27432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Capture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58368" y="318211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6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Libpcap captures all packets on the network interface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505456" y="278892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825496" y="2286000"/>
            <a:ext cx="1956816" cy="1554480"/>
          </a:xfrm>
          <a:prstGeom prst="roundRect">
            <a:avLst>
              <a:gd name="adj" fmla="val 4706"/>
            </a:avLst>
          </a:prstGeom>
          <a:solidFill>
            <a:srgbClr val="13233D"/>
          </a:solidFill>
          <a:ln/>
        </p:spPr>
      </p:sp>
      <p:sp>
        <p:nvSpPr>
          <p:cNvPr id="10" name="Text 8"/>
          <p:cNvSpPr/>
          <p:nvPr/>
        </p:nvSpPr>
        <p:spPr>
          <a:xfrm>
            <a:off x="2935224" y="2377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35224" y="27432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Decoder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935224" y="318211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6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IP, port, protocol &amp; payload details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82312" y="278892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102352" y="2286000"/>
            <a:ext cx="1956816" cy="1554480"/>
          </a:xfrm>
          <a:prstGeom prst="roundRect">
            <a:avLst>
              <a:gd name="adj" fmla="val 4706"/>
            </a:avLst>
          </a:prstGeom>
          <a:solidFill>
            <a:srgbClr val="0B1220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0" y="2377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12080" y="27432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Engine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212080" y="318211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6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packets against the Snort rule database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059168" y="278892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379208" y="2286000"/>
            <a:ext cx="1956816" cy="1554480"/>
          </a:xfrm>
          <a:prstGeom prst="roundRect">
            <a:avLst>
              <a:gd name="adj" fmla="val 4706"/>
            </a:avLst>
          </a:prstGeom>
          <a:solidFill>
            <a:srgbClr val="13233D"/>
          </a:solidFill>
          <a:ln/>
        </p:spPr>
      </p:sp>
      <p:sp>
        <p:nvSpPr>
          <p:cNvPr id="20" name="Text 18"/>
          <p:cNvSpPr/>
          <p:nvPr/>
        </p:nvSpPr>
        <p:spPr>
          <a:xfrm>
            <a:off x="7488936" y="2377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488936" y="27432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Generation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488936" y="318211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6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the event and raises a real-time alert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336024" y="278892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656064" y="2286000"/>
            <a:ext cx="1956816" cy="1554480"/>
          </a:xfrm>
          <a:prstGeom prst="roundRect">
            <a:avLst>
              <a:gd name="adj" fmla="val 4706"/>
            </a:avLst>
          </a:prstGeom>
          <a:solidFill>
            <a:srgbClr val="0B1220"/>
          </a:solidFill>
          <a:ln/>
        </p:spPr>
      </p:sp>
      <p:sp>
        <p:nvSpPr>
          <p:cNvPr id="25" name="Text 23"/>
          <p:cNvSpPr/>
          <p:nvPr/>
        </p:nvSpPr>
        <p:spPr>
          <a:xfrm>
            <a:off x="9765792" y="2377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765792" y="27432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765792" y="318211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6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reviews alerts and responds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8640" y="4297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TOPOLOGY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663440"/>
            <a:ext cx="2606040" cy="685800"/>
          </a:xfrm>
          <a:prstGeom prst="roundRect">
            <a:avLst>
              <a:gd name="adj" fmla="val 46667"/>
            </a:avLst>
          </a:prstGeom>
          <a:solidFill>
            <a:srgbClr val="FFFFFF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6634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154680" y="4663440"/>
            <a:ext cx="274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429000" y="4663440"/>
            <a:ext cx="2606040" cy="685800"/>
          </a:xfrm>
          <a:prstGeom prst="roundRect">
            <a:avLst>
              <a:gd name="adj" fmla="val 46667"/>
            </a:avLst>
          </a:prstGeom>
          <a:solidFill>
            <a:srgbClr val="FFFFFF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29000" y="46634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/ Firewall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035040" y="4663440"/>
            <a:ext cx="274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09360" y="4663440"/>
            <a:ext cx="2606040" cy="685800"/>
          </a:xfrm>
          <a:prstGeom prst="roundRect">
            <a:avLst>
              <a:gd name="adj" fmla="val 46667"/>
            </a:avLst>
          </a:prstGeom>
          <a:solidFill>
            <a:srgbClr val="FFFFFF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9360" y="46634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Switch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915400" y="4663440"/>
            <a:ext cx="274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189720" y="4663440"/>
            <a:ext cx="2606040" cy="685800"/>
          </a:xfrm>
          <a:prstGeom prst="roundRect">
            <a:avLst>
              <a:gd name="adj" fmla="val 46667"/>
            </a:avLst>
          </a:prstGeom>
          <a:solidFill>
            <a:srgbClr val="FFFFFF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89720" y="46634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Snort IDS + PCs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8640" y="5623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components: Packet Capture • Packet Decoder • Detection Engine • Rule Database • Alert Management System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57200" y="654710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SENTRY-IDS  |  Network Intrusion Detection System Using Snort &amp; Wireshark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Detection Workflow</a:t>
            </a:r>
            <a:endParaRPr lang="en-US" sz="3000" dirty="0"/>
          </a:p>
        </p:txBody>
      </p:sp>
      <p:pic>
        <p:nvPicPr>
          <p:cNvPr id="4" name="Image 0" descr="/home/claude/extracted/flow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417320"/>
            <a:ext cx="3246120" cy="5074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0020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600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51560" y="1572768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51560" y="1856232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packets are pulled from the selected interface in real time.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253288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25328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51560" y="2505456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&amp; Match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51560" y="278892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Packets are decoded and checked against the Snort rule set.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48640" y="346557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34655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51560" y="3438144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51560" y="3721608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threat verdict is reached for every packet inspected.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48640" y="439826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43982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051560" y="437083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&amp; Log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051560" y="4654296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trigger an alert and are written to the log store.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48640" y="533095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22" name="Text 19"/>
          <p:cNvSpPr/>
          <p:nvPr/>
        </p:nvSpPr>
        <p:spPr>
          <a:xfrm>
            <a:off x="548640" y="53309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051560" y="530352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051560" y="5586984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administrator is notified to review and respond.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57200" y="654710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SENTRY-IDS  |  Network Intrusion Detection System Using Snort &amp; Wireshark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 &amp; Setup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52120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00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 Core i5 or higher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 8 GB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GB free disk space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Adapter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Ethernet / Wi-Fi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64-bit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309360" y="16002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920240"/>
          <a:ext cx="53035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1089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Ubuntu 22.04 LTS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System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Snort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Intrusion Detection Engine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Wireshark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Packet Analyzer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Analysis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Nmap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 Simulation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VirtualBox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 Environment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489204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0B1220"/>
          </a:solidFill>
          <a:ln/>
        </p:spPr>
      </p:sp>
      <p:sp>
        <p:nvSpPr>
          <p:cNvPr id="9" name="Text 5"/>
          <p:cNvSpPr/>
          <p:nvPr/>
        </p:nvSpPr>
        <p:spPr>
          <a:xfrm>
            <a:off x="822960" y="5074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apt install snort -y        $ sudo snort -c /etc/snort/snort.lua -i eth0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22960" y="544068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Snort is installed on Ubuntu, configured via snort.lua (HOME_NET / EXTERNAL_NET), then run in IDS mode against the live interface.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457200" y="654710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SENTRY-IDS  |  Network Intrusion Detection System Using Snort &amp; Wireshark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Rules &amp; Attack Simulation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SNORT RULES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577840" cy="713232"/>
          </a:xfrm>
          <a:prstGeom prst="roundRect">
            <a:avLst>
              <a:gd name="adj" fmla="val 7692"/>
            </a:avLst>
          </a:prstGeom>
          <a:solidFill>
            <a:srgbClr val="0B122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75104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ICMP Ping Detected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" y="2249424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6D2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 icmp any any -&gt; $HOME_NET any (sid:100001;)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2770632"/>
            <a:ext cx="5577840" cy="713232"/>
          </a:xfrm>
          <a:prstGeom prst="roundRect">
            <a:avLst>
              <a:gd name="adj" fmla="val 7692"/>
            </a:avLst>
          </a:prstGeom>
          <a:solidFill>
            <a:srgbClr val="0B122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825496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 Connection Detected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" y="3099816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6D2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 tcp any any -&gt; $HOME_NET 21 (sid:100002;)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3621024"/>
            <a:ext cx="5577840" cy="713232"/>
          </a:xfrm>
          <a:prstGeom prst="roundRect">
            <a:avLst>
              <a:gd name="adj" fmla="val 7692"/>
            </a:avLst>
          </a:prstGeom>
          <a:solidFill>
            <a:srgbClr val="0B122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675888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Connection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31520" y="395020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6D2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 tcp any any -&gt; $HOME_NET 22 (sid:100003;)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4471416"/>
            <a:ext cx="5577840" cy="713232"/>
          </a:xfrm>
          <a:prstGeom prst="roundRect">
            <a:avLst>
              <a:gd name="adj" fmla="val 7692"/>
            </a:avLst>
          </a:prstGeom>
          <a:solidFill>
            <a:srgbClr val="0B122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52628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Traffic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31520" y="48006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6D2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 tcp any any -&gt; $HOME_NET 80 (sid:100004;)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00800" y="15544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SIMULATION SCENARIOS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1920240"/>
            <a:ext cx="52120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1920240"/>
            <a:ext cx="73152" cy="713232"/>
          </a:xfrm>
          <a:prstGeom prst="roundRect">
            <a:avLst/>
          </a:prstGeom>
          <a:solidFill>
            <a:srgbClr val="F43F5E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1975104"/>
            <a:ext cx="2194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Scanning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732520" y="1975104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SYN scan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732520" y="224942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➔ Port Scan Detected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0" y="2770632"/>
            <a:ext cx="52120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2770632"/>
            <a:ext cx="73152" cy="713232"/>
          </a:xfrm>
          <a:prstGeom prst="roundRect">
            <a:avLst/>
          </a:prstGeom>
          <a:solidFill>
            <a:srgbClr val="F5A524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2825496"/>
            <a:ext cx="2194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ICMP Flood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732520" y="2825496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-f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732520" y="309981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➔ ICMP Flood Attack Detected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00800" y="3621024"/>
            <a:ext cx="52120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0" y="3621024"/>
            <a:ext cx="73152" cy="713232"/>
          </a:xfrm>
          <a:prstGeom prst="roundRect">
            <a:avLst/>
          </a:prstGeom>
          <a:solidFill>
            <a:srgbClr val="F43F5E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0" y="3675888"/>
            <a:ext cx="2194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Brute Force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732520" y="367588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login attempts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732520" y="39502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➔ Possible SSH Brute Force Attack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400800" y="4471416"/>
            <a:ext cx="52120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0" y="4471416"/>
            <a:ext cx="73152" cy="713232"/>
          </a:xfrm>
          <a:prstGeom prst="roundRect">
            <a:avLst/>
          </a:prstGeom>
          <a:solidFill>
            <a:srgbClr val="F5A524"/>
          </a:solidFill>
          <a:ln/>
        </p:spPr>
      </p:sp>
      <p:sp>
        <p:nvSpPr>
          <p:cNvPr id="35" name="Text 33"/>
          <p:cNvSpPr/>
          <p:nvPr/>
        </p:nvSpPr>
        <p:spPr>
          <a:xfrm>
            <a:off x="6583680" y="4526280"/>
            <a:ext cx="2194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Monitoring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732520" y="452628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web access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732520" y="48006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➔ HTTP Traffic Detected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654710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SENTRY-IDS  |  Network Intrusion Detection System Using Snort &amp; Wireshark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MONITORING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SENTRY-IDS Console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authenticate into a secure console, then get a live view of packet throughput, threat severity, and incoming alerts.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4480560" cy="4343400"/>
          </a:xfrm>
          <a:prstGeom prst="roundRect">
            <a:avLst>
              <a:gd name="adj" fmla="val 1684"/>
            </a:avLst>
          </a:prstGeom>
          <a:solidFill>
            <a:srgbClr val="13233D"/>
          </a:solidFill>
          <a:ln w="12700">
            <a:solidFill>
              <a:srgbClr val="27405F"/>
            </a:solidFill>
            <a:prstDash val="solid"/>
          </a:ln>
        </p:spPr>
      </p:sp>
      <p:pic>
        <p:nvPicPr>
          <p:cNvPr id="6" name="Image 0" descr="/home/claude/extracted/dashboard_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057400"/>
            <a:ext cx="4023360" cy="16276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7947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Authentication Console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7240" y="4114800"/>
            <a:ext cx="4023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Secured console access restricts dashboard use to registered operators before any live data is shown.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212080" y="1828800"/>
            <a:ext cx="6400800" cy="4343400"/>
          </a:xfrm>
          <a:prstGeom prst="roundRect">
            <a:avLst>
              <a:gd name="adj" fmla="val 1684"/>
            </a:avLst>
          </a:prstGeom>
          <a:solidFill>
            <a:srgbClr val="13233D"/>
          </a:solidFill>
          <a:ln w="12700">
            <a:solidFill>
              <a:srgbClr val="27405F"/>
            </a:solidFill>
            <a:prstDash val="solid"/>
          </a:ln>
        </p:spPr>
      </p:sp>
      <p:pic>
        <p:nvPicPr>
          <p:cNvPr id="10" name="Image 1" descr="/home/claude/extracted/dashboard_overvi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2057400"/>
            <a:ext cx="5943600" cy="25877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0680" y="47548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Threat Security Overview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5440680" y="507492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packet counts, incident totals, flow rate, and severity breakdown update continuously as traffic is analysed.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57200" y="654710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A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SENTRY-IDS  |  Network Intrusion Detection System Using Snort &amp; Wireshark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A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 Detection Results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4008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011680"/>
                <a:gridCol w="18288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 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Generated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 Scan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7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7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ICMP Flood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7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7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SSH Brute Force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7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7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Traffic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7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7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Traffic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Attack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Alert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84632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simulated attack categories were correctly flagged with alerts, while normal baseline traffic passed through without any false alarm — confirming reliable rule matching across attack types.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315200" y="1691640"/>
            <a:ext cx="4297680" cy="4251960"/>
          </a:xfrm>
          <a:prstGeom prst="roundRect">
            <a:avLst>
              <a:gd name="adj" fmla="val 2151"/>
            </a:avLst>
          </a:prstGeom>
          <a:solidFill>
            <a:srgbClr val="0B1220"/>
          </a:solidFill>
          <a:ln/>
        </p:spPr>
      </p:sp>
      <p:sp>
        <p:nvSpPr>
          <p:cNvPr id="7" name="Text 4"/>
          <p:cNvSpPr/>
          <p:nvPr/>
        </p:nvSpPr>
        <p:spPr>
          <a:xfrm>
            <a:off x="758952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1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2286000"/>
          <a:ext cx="37490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280160"/>
                <a:gridCol w="128016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05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0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7589520" y="452628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6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majority of attack instances were correctly classified as True Positives, with only a small number of False Negatives / False Positives.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457200" y="654710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SENTRY-IDS  |  Network Intrusion Detection System Using Snort &amp; Wireshark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Metrics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148840" cy="1554480"/>
          </a:xfrm>
          <a:prstGeom prst="roundRect">
            <a:avLst>
              <a:gd name="adj" fmla="val 5882"/>
            </a:avLst>
          </a:prstGeom>
          <a:solidFill>
            <a:srgbClr val="0B122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98.2%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6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6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834640" y="1645920"/>
            <a:ext cx="2148840" cy="1554480"/>
          </a:xfrm>
          <a:prstGeom prst="roundRect">
            <a:avLst>
              <a:gd name="adj" fmla="val 5882"/>
            </a:avLst>
          </a:prstGeom>
          <a:solidFill>
            <a:srgbClr val="0B1220"/>
          </a:solidFill>
          <a:ln/>
        </p:spPr>
      </p:sp>
      <p:sp>
        <p:nvSpPr>
          <p:cNvPr id="8" name="Text 6"/>
          <p:cNvSpPr/>
          <p:nvPr/>
        </p:nvSpPr>
        <p:spPr>
          <a:xfrm>
            <a:off x="2834640" y="178308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97.5%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834640" y="25146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6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120640" y="1645920"/>
            <a:ext cx="2148840" cy="1554480"/>
          </a:xfrm>
          <a:prstGeom prst="roundRect">
            <a:avLst>
              <a:gd name="adj" fmla="val 5882"/>
            </a:avLst>
          </a:prstGeom>
          <a:solidFill>
            <a:srgbClr val="0B1220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178308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96.8%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120640" y="25146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6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406640" y="1645920"/>
            <a:ext cx="2148840" cy="1554480"/>
          </a:xfrm>
          <a:prstGeom prst="roundRect">
            <a:avLst>
              <a:gd name="adj" fmla="val 5882"/>
            </a:avLst>
          </a:prstGeom>
          <a:solidFill>
            <a:srgbClr val="0B1220"/>
          </a:solidFill>
          <a:ln/>
        </p:spPr>
      </p:sp>
      <p:sp>
        <p:nvSpPr>
          <p:cNvPr id="14" name="Text 12"/>
          <p:cNvSpPr/>
          <p:nvPr/>
        </p:nvSpPr>
        <p:spPr>
          <a:xfrm>
            <a:off x="7406640" y="178308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97.1%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406640" y="25146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6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692640" y="1645920"/>
            <a:ext cx="2148840" cy="1554480"/>
          </a:xfrm>
          <a:prstGeom prst="roundRect">
            <a:avLst>
              <a:gd name="adj" fmla="val 5882"/>
            </a:avLst>
          </a:prstGeom>
          <a:solidFill>
            <a:srgbClr val="3A1420"/>
          </a:solidFill>
          <a:ln/>
        </p:spPr>
      </p:sp>
      <p:sp>
        <p:nvSpPr>
          <p:cNvPr id="17" name="Text 15"/>
          <p:cNvSpPr/>
          <p:nvPr/>
        </p:nvSpPr>
        <p:spPr>
          <a:xfrm>
            <a:off x="9692640" y="178308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3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692640" y="25146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6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6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3520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FOOTPRINT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886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CPU Usage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566160" y="3904488"/>
            <a:ext cx="3291840" cy="274320"/>
          </a:xfrm>
          <a:prstGeom prst="roundRect">
            <a:avLst>
              <a:gd name="adj" fmla="val 50000"/>
            </a:avLst>
          </a:prstGeom>
          <a:solidFill>
            <a:srgbClr val="E1E8F0"/>
          </a:solidFill>
          <a:ln/>
        </p:spPr>
      </p:sp>
      <p:sp>
        <p:nvSpPr>
          <p:cNvPr id="22" name="Shape 20"/>
          <p:cNvSpPr/>
          <p:nvPr/>
        </p:nvSpPr>
        <p:spPr>
          <a:xfrm>
            <a:off x="3566160" y="3904488"/>
            <a:ext cx="592531" cy="27432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23" name="Text 21"/>
          <p:cNvSpPr/>
          <p:nvPr/>
        </p:nvSpPr>
        <p:spPr>
          <a:xfrm>
            <a:off x="6995160" y="386791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44348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Memory Usage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566160" y="4453128"/>
            <a:ext cx="3291840" cy="274320"/>
          </a:xfrm>
          <a:prstGeom prst="roundRect">
            <a:avLst>
              <a:gd name="adj" fmla="val 50000"/>
            </a:avLst>
          </a:prstGeom>
          <a:solidFill>
            <a:srgbClr val="E1E8F0"/>
          </a:solidFill>
          <a:ln/>
        </p:spPr>
      </p:sp>
      <p:sp>
        <p:nvSpPr>
          <p:cNvPr id="26" name="Shape 24"/>
          <p:cNvSpPr/>
          <p:nvPr/>
        </p:nvSpPr>
        <p:spPr>
          <a:xfrm>
            <a:off x="3566160" y="4453128"/>
            <a:ext cx="1020470" cy="27432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27" name="Text 25"/>
          <p:cNvSpPr/>
          <p:nvPr/>
        </p:nvSpPr>
        <p:spPr>
          <a:xfrm>
            <a:off x="6995160" y="441655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310 MB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5074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Snort keeps a light footprint on modest, i5-class hardware — well suited to small and medium network deployments.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321040" y="3520440"/>
            <a:ext cx="32918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49640" y="37033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MEASURED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549640" y="4023360"/>
            <a:ext cx="2834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B12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Accuracy = (TP+TN) / All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B12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Precision = TP / (TP+FP)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B12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Recall = TP / (TP+FN)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B12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 = harmonic mean of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B12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Precision &amp; Recall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654710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SENTRY-IDS  |  Network Intrusion Detection System Using Snort &amp; Wireshark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SENTRY-IDS Compares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68580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600200"/>
                <a:gridCol w="1600200"/>
                <a:gridCol w="1188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Snort (Used)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Suricata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Zeek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Detection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Signature-Based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 Analysis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Good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Multi-Threading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7947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DISCUSSION POINTS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4206240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7" name="Text 4"/>
          <p:cNvSpPr/>
          <p:nvPr/>
        </p:nvSpPr>
        <p:spPr>
          <a:xfrm>
            <a:off x="804672" y="406908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attack categories were detected without disrupting normal traffic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4663440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9" name="Text 6"/>
          <p:cNvSpPr/>
          <p:nvPr/>
        </p:nvSpPr>
        <p:spPr>
          <a:xfrm>
            <a:off x="804672" y="452628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CPU/memory usage under both idle and attack conditions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5120640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1" name="Text 8"/>
          <p:cNvSpPr/>
          <p:nvPr/>
        </p:nvSpPr>
        <p:spPr>
          <a:xfrm>
            <a:off x="804672" y="498348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effort went into rule tuning to reduce false positives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80960" y="1645920"/>
            <a:ext cx="3931920" cy="4251960"/>
          </a:xfrm>
          <a:prstGeom prst="roundRect">
            <a:avLst>
              <a:gd name="adj" fmla="val 2326"/>
            </a:avLst>
          </a:prstGeom>
          <a:solidFill>
            <a:srgbClr val="3A1420"/>
          </a:solidFill>
          <a:ln/>
        </p:spPr>
      </p:sp>
      <p:sp>
        <p:nvSpPr>
          <p:cNvPr id="13" name="Text 10"/>
          <p:cNvSpPr/>
          <p:nvPr/>
        </p:nvSpPr>
        <p:spPr>
          <a:xfrm>
            <a:off x="7909560" y="184708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909560" y="219456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138160" y="21945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detect zero-day attacks (signature-based)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909560" y="278892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138160" y="27889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depends on regularly updated rules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909560" y="338328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138160" y="33832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High-speed links need stronger hardware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909560" y="39776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138160" y="39776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traffic limits inspection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909560" y="45720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138160" y="45720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— does not automatically block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57200" y="654710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SENTRY-IDS  |  Network Intrusion Detection System Using Snort &amp; Wireshark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Effective, Low-Cost Security Layer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6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SENTRY-IDS demonstrates that an open-source stack — Snort for detection and Wireshark for packet analysis — can reliably monitor traffic, detect common cyberattacks, and generate actionable, forensic-ready alerts on modest hardware.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ACHIEVEMENTS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69748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&amp; implemented a full NIDS pipeline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0" y="2834640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9" name="Text 7"/>
          <p:cNvSpPr/>
          <p:nvPr/>
        </p:nvSpPr>
        <p:spPr>
          <a:xfrm>
            <a:off x="6199632" y="269748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Installed, configured &amp; tuned Snort 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320040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&amp; analysed live traffic with Wireshark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0" y="3337560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6199632" y="320040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Authored custom detection rules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37033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multiple real attack types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0" y="3840480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7" name="Text 15"/>
          <p:cNvSpPr/>
          <p:nvPr/>
        </p:nvSpPr>
        <p:spPr>
          <a:xfrm>
            <a:off x="6199632" y="37033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SENTRY-IDS live alert dashboard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343400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420624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events for forensic analysis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0" y="4343400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1" name="Text 19"/>
          <p:cNvSpPr/>
          <p:nvPr/>
        </p:nvSpPr>
        <p:spPr>
          <a:xfrm>
            <a:off x="6199632" y="420624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Benchmarked accuracy, precision, recall &amp; F1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02920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13233D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16636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98.2%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2834640" y="5166360"/>
            <a:ext cx="8503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6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detection accuracy achieved across port-scan, ICMP-flood, SSH brute-force, and HTTP-monitoring test scenarios — with a false-positive rate of just 2.1%.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4710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A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SENTRY-IDS  |  Network Intrusion Detection System Using Snort &amp; Wireshark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A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470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47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2423160"/>
            <a:ext cx="31638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743200"/>
            <a:ext cx="3163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to catch unknown / zero-day attacks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64592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98848" y="18470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4498848" y="1847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98848" y="2423160"/>
            <a:ext cx="31638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 Integration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498848" y="2743200"/>
            <a:ext cx="3163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block malicious traffic after detection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164592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47888" y="18470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/>
        </p:spPr>
      </p:sp>
      <p:sp>
        <p:nvSpPr>
          <p:cNvPr id="16" name="Text 14"/>
          <p:cNvSpPr/>
          <p:nvPr/>
        </p:nvSpPr>
        <p:spPr>
          <a:xfrm>
            <a:off x="8247888" y="1847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47888" y="2423160"/>
            <a:ext cx="31638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IoT Coverage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47888" y="2743200"/>
            <a:ext cx="3163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monitoring to cloud workloads and IoT devices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56616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37673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767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9808" y="4343400"/>
            <a:ext cx="31638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Integration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49808" y="4663440"/>
            <a:ext cx="3163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 logs &amp; response via Splunk / Elastic Stack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97680" y="356616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98848" y="37673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26" name="Text 24"/>
          <p:cNvSpPr/>
          <p:nvPr/>
        </p:nvSpPr>
        <p:spPr>
          <a:xfrm>
            <a:off x="4498848" y="3767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498848" y="4343400"/>
            <a:ext cx="31638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Dashboard+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498848" y="4663440"/>
            <a:ext cx="3163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graphical, real-time monitoring dashboard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46720" y="356616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47888" y="37673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/>
        </p:spPr>
      </p:sp>
      <p:sp>
        <p:nvSpPr>
          <p:cNvPr id="31" name="Text 29"/>
          <p:cNvSpPr/>
          <p:nvPr/>
        </p:nvSpPr>
        <p:spPr>
          <a:xfrm>
            <a:off x="8247888" y="3767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247888" y="4343400"/>
            <a:ext cx="31638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247888" y="4663440"/>
            <a:ext cx="3163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external feeds for emerging threat data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54710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SENTRY-IDS  |  Network Intrusion Detection System Using Snort &amp; Wireshark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640080"/>
            <a:ext cx="45720" cy="45720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052560" y="1143000"/>
            <a:ext cx="45720" cy="45720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052560" y="1645920"/>
            <a:ext cx="45720" cy="45720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052560" y="2148840"/>
            <a:ext cx="45720" cy="45720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052560" y="2651760"/>
            <a:ext cx="45720" cy="45720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555480" y="640080"/>
            <a:ext cx="45720" cy="45720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555480" y="1143000"/>
            <a:ext cx="45720" cy="45720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555480" y="1645920"/>
            <a:ext cx="45720" cy="45720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555480" y="2148840"/>
            <a:ext cx="45720" cy="45720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555480" y="2651760"/>
            <a:ext cx="45720" cy="45720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058400" y="640080"/>
            <a:ext cx="45720" cy="45720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058400" y="1143000"/>
            <a:ext cx="45720" cy="45720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058400" y="1645920"/>
            <a:ext cx="45720" cy="45720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058400" y="2148840"/>
            <a:ext cx="45720" cy="45720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058400" y="2651760"/>
            <a:ext cx="45720" cy="45720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561320" y="640080"/>
            <a:ext cx="45720" cy="45720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561320" y="1143000"/>
            <a:ext cx="45720" cy="45720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561320" y="1645920"/>
            <a:ext cx="45720" cy="45720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561320" y="2148840"/>
            <a:ext cx="45720" cy="45720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561320" y="2651760"/>
            <a:ext cx="45720" cy="45720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064240" y="640080"/>
            <a:ext cx="45720" cy="45720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1064240" y="1143000"/>
            <a:ext cx="45720" cy="45720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064240" y="1645920"/>
            <a:ext cx="45720" cy="45720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064240" y="2148840"/>
            <a:ext cx="45720" cy="45720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1064240" y="2651760"/>
            <a:ext cx="45720" cy="45720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1567160" y="640080"/>
            <a:ext cx="45720" cy="45720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1567160" y="1143000"/>
            <a:ext cx="45720" cy="45720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567160" y="1645920"/>
            <a:ext cx="45720" cy="45720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1567160" y="2148840"/>
            <a:ext cx="45720" cy="45720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1567160" y="2651760"/>
            <a:ext cx="45720" cy="45720"/>
          </a:xfrm>
          <a:prstGeom prst="ellipse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48640" y="640080"/>
            <a:ext cx="10972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pic>
        <p:nvPicPr>
          <p:cNvPr id="33" name="Image 0" descr="/home/claude/extracte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768096"/>
            <a:ext cx="841248" cy="841248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548640" y="265176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5" name="Text 32"/>
          <p:cNvSpPr/>
          <p:nvPr/>
        </p:nvSpPr>
        <p:spPr>
          <a:xfrm>
            <a:off x="548640" y="3611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548640" y="4297680"/>
            <a:ext cx="274320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4864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Ashish Dubey  •  Dhruva Khare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54864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Supervision of Dr. Vimal Kumar</a:t>
            </a:r>
            <a:endParaRPr lang="en-US" sz="1250" dirty="0"/>
          </a:p>
        </p:txBody>
      </p:sp>
      <p:sp>
        <p:nvSpPr>
          <p:cNvPr id="39" name="Text 36"/>
          <p:cNvSpPr/>
          <p:nvPr/>
        </p:nvSpPr>
        <p:spPr>
          <a:xfrm>
            <a:off x="54864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8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Forensic Research Centre • Dept. of Computer Science &amp; Engineering • MMMUT, Gorakhpur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2026-07-20T07:08:40Z</dcterms:created>
  <dcterms:modified xsi:type="dcterms:W3CDTF">2026-07-20T07:08:40Z</dcterms:modified>
</cp:coreProperties>
</file>